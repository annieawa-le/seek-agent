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1645920"/>
            <a:ext cx="3931920" cy="25400"/>
          </a:xfrm>
          <a:prstGeom prst="rect">
            <a:avLst/>
          </a:prstGeom>
          <a:solidFill>
            <a:srgbClr val="D4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4B86A"/>
                </a:solidFill>
                <a:latin typeface="JetBrains Mono"/>
              </a:defRPr>
            </a:pPr>
            <a:r>
              <a:t>DESIGN SYSTEM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8FAFC"/>
                </a:solidFill>
                <a:latin typeface="Inter"/>
              </a:defRPr>
            </a:pPr>
            <a:r>
              <a:t>Seek-Agent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D4B86A"/>
                </a:solidFill>
                <a:latin typeface="Inter"/>
              </a:defRPr>
            </a:pPr>
            <a:r>
              <a:t>UI/UX 设计系统报告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754880"/>
            <a:ext cx="3931920" cy="25400"/>
          </a:xfrm>
          <a:prstGeom prst="rect">
            <a:avLst/>
          </a:prstGeom>
          <a:solidFill>
            <a:srgbClr val="D4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Inter"/>
              </a:defRPr>
            </a:pPr>
            <a:r>
              <a:t>Electron 渲染层 → 终端 TUI  ·  完整设计语言与 Token 体系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6692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JetBrains Mono"/>
              </a:defRPr>
            </a:pPr>
            <a:r>
              <a:t>v1.0  ·  2025  ·  AI Agent Runtime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4B86A"/>
                </a:solidFill>
                <a:latin typeface="JetBrains Mono"/>
              </a:defRPr>
            </a:pPr>
            <a: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371600" cy="25400"/>
          </a:xfrm>
          <a:prstGeom prst="rect">
            <a:avLst/>
          </a:prstGeom>
          <a:solidFill>
            <a:srgbClr val="D4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8FAFC"/>
                </a:solidFill>
                <a:latin typeface="Inter"/>
              </a:defRPr>
            </a:pPr>
            <a:r>
              <a:t>报告目录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B86A"/>
                </a:solidFill>
                <a:latin typeface="JetBrains Mono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945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8FAFC"/>
                </a:solidFill>
                <a:latin typeface="Inter"/>
              </a:defRPr>
            </a:pPr>
            <a:r>
              <a:t>设计 Token 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B86A"/>
                </a:solidFill>
                <a:latin typeface="JetBrains Mono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2004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8FAFC"/>
                </a:solidFill>
                <a:latin typeface="Inter"/>
              </a:defRPr>
            </a:pPr>
            <a:r>
              <a:t>配色系统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B86A"/>
                </a:solidFill>
                <a:latin typeface="JetBrains Mono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2062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8FAFC"/>
                </a:solidFill>
                <a:latin typeface="Inter"/>
              </a:defRPr>
            </a:pPr>
            <a:r>
              <a:t>排版与字体系统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212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B86A"/>
                </a:solidFill>
                <a:latin typeface="JetBrains Mono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52120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8FAFC"/>
                </a:solidFill>
                <a:latin typeface="Inter"/>
              </a:defRPr>
            </a:pPr>
            <a:r>
              <a:t>间距、圆角与阴影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B86A"/>
                </a:solidFill>
                <a:latin typeface="JetBrains Mono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1945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8FAFC"/>
                </a:solidFill>
                <a:latin typeface="Inter"/>
              </a:defRPr>
            </a:pPr>
            <a:r>
              <a:t>组件设计规范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00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B86A"/>
                </a:solidFill>
                <a:latin typeface="JetBrains Mono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2004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8FAFC"/>
                </a:solidFill>
                <a:latin typeface="Inter"/>
              </a:defRPr>
            </a:pPr>
            <a:r>
              <a:t>深色模式实现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06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B86A"/>
                </a:solidFill>
                <a:latin typeface="JetBrains Mono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2062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8FAFC"/>
                </a:solidFill>
                <a:latin typeface="Inter"/>
              </a:defRPr>
            </a:pPr>
            <a:r>
              <a:t>UI 风格展示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212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B86A"/>
                </a:solidFill>
                <a:latin typeface="JetBrains Mono"/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52120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8FAFC"/>
                </a:solidFill>
                <a:latin typeface="Inter"/>
              </a:defRPr>
            </a:pPr>
            <a:r>
              <a:t>可访问性与预交付检查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4B86A"/>
                </a:solidFill>
                <a:latin typeface="JetBrains Mono"/>
              </a:defRPr>
            </a:pPr>
            <a:r>
              <a:t>01  TOKEN 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371600" cy="25400"/>
          </a:xfrm>
          <a:prstGeom prst="rect">
            <a:avLst/>
          </a:prstGeom>
          <a:solidFill>
            <a:srgbClr val="D4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8FAFC"/>
                </a:solidFill>
                <a:latin typeface="Inter"/>
              </a:defRPr>
            </a:pPr>
            <a:r>
              <a:t>三层 Token 设计系统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遵循 UI/UX Pro Max 规范：原始值 → 语义别名 → 组件专用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377440"/>
            <a:ext cx="3657600" cy="822960"/>
          </a:xfrm>
          <a:prstGeom prst="roundRect">
            <a:avLst/>
          </a:prstGeom>
          <a:solidFill>
            <a:srgbClr val="24211D"/>
          </a:solidFill>
          <a:ln w="19050">
            <a:solidFill>
              <a:srgbClr val="D4B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JetBrains Mono"/>
              </a:defRPr>
            </a:pPr>
            <a:r>
              <a:t>Primitive（原始值）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88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B86A"/>
                </a:solidFill>
                <a:latin typeface="JetBrains Mono"/>
              </a:defRPr>
            </a:pPr>
            <a:r>
              <a:t>--gold-500:  #C4A246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246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Inter"/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520440"/>
            <a:ext cx="3657600" cy="822960"/>
          </a:xfrm>
          <a:prstGeom prst="roundRect">
            <a:avLst/>
          </a:prstGeom>
          <a:solidFill>
            <a:srgbClr val="24211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JetBrains Mono"/>
              </a:defRPr>
            </a:pPr>
            <a:r>
              <a:t>Semantic（语义别名）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2C55E"/>
                </a:solidFill>
                <a:latin typeface="JetBrains Mono"/>
              </a:defRPr>
            </a:pPr>
            <a:r>
              <a:t>--accent:  var(--gold-500)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389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Inter"/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663440"/>
            <a:ext cx="3657600" cy="822960"/>
          </a:xfrm>
          <a:prstGeom prst="roundRect">
            <a:avLst/>
          </a:prstGeom>
          <a:solidFill>
            <a:srgbClr val="24211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754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JetBrains Mono"/>
              </a:defRPr>
            </a:pPr>
            <a:r>
              <a:t>Component（组件专用）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074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2D3EE"/>
                </a:solidFill>
                <a:latin typeface="JetBrains Mono"/>
              </a:defRPr>
            </a:pPr>
            <a:r>
              <a:t>--btn-bg:  var(--accent)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377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8FAFC"/>
                </a:solidFill>
                <a:latin typeface="Inter"/>
              </a:defRPr>
            </a:pPr>
            <a:r>
              <a:t>核心原则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8346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▸ 绝不使用原始 hex — 始终引用 Token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▸ 语义层支持主题切换（亮/暗）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▸ 组件 Token 支持逐组件定制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▸ 使用 HSL 格式便于透明控制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▸ 每个 Token 记录用途文档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▸ --header-bg:  rgba(21,18,16,0.88)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▸ --btn-hover:  var(--accent-hover)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▸ --msg-user-bg:  rgba(212,168,67,0.06)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4B86A"/>
                </a:solidFill>
                <a:latin typeface="JetBrains Mono"/>
              </a:defRPr>
            </a:pPr>
            <a:r>
              <a:t>02  配色系统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371600" cy="25400"/>
          </a:xfrm>
          <a:prstGeom prst="rect">
            <a:avLst/>
          </a:prstGeom>
          <a:solidFill>
            <a:srgbClr val="D4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8FAFC"/>
                </a:solidFill>
                <a:latin typeface="Inter"/>
              </a:defRPr>
            </a:pPr>
            <a:r>
              <a:t>暖调深色 · 金色点缀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深暖灰色基底 · 金色品牌色 · 和谐语义色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286000"/>
            <a:ext cx="1645920" cy="1097280"/>
          </a:xfrm>
          <a:prstGeom prst="roundRect">
            <a:avLst/>
          </a:prstGeom>
          <a:solidFill>
            <a:srgbClr val="0D0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8FAFC"/>
                </a:solidFill>
                <a:latin typeface="JetBrains Mono"/>
              </a:defRPr>
            </a:pPr>
            <a:r>
              <a:t>#0D0A08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8FAFC"/>
                </a:solidFill>
                <a:latin typeface="Inter"/>
              </a:defRPr>
            </a:pPr>
            <a:r>
              <a:t>深底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286000"/>
            <a:ext cx="1645920" cy="1097280"/>
          </a:xfrm>
          <a:prstGeom prst="roundRect">
            <a:avLst/>
          </a:prstGeom>
          <a:solidFill>
            <a:srgbClr val="151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926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8FAFC"/>
                </a:solidFill>
                <a:latin typeface="JetBrains Mono"/>
              </a:defRPr>
            </a:pPr>
            <a:r>
              <a:t>#151210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331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8FAFC"/>
                </a:solidFill>
                <a:latin typeface="Inter"/>
              </a:defRPr>
            </a:pPr>
            <a:r>
              <a:t>基底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2286000"/>
            <a:ext cx="1645920" cy="1097280"/>
          </a:xfrm>
          <a:prstGeom prst="roundRect">
            <a:avLst/>
          </a:prstGeom>
          <a:solidFill>
            <a:srgbClr val="1A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2926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8FAFC"/>
                </a:solidFill>
                <a:latin typeface="JetBrains Mono"/>
              </a:defRPr>
            </a:pPr>
            <a:r>
              <a:t>#1A1714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331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8FAFC"/>
                </a:solidFill>
                <a:latin typeface="Inter"/>
              </a:defRPr>
            </a:pPr>
            <a:r>
              <a:t>抬高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286000"/>
            <a:ext cx="1645920" cy="1097280"/>
          </a:xfrm>
          <a:prstGeom prst="roundRect">
            <a:avLst/>
          </a:prstGeom>
          <a:solidFill>
            <a:srgbClr val="242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2926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8FAFC"/>
                </a:solidFill>
                <a:latin typeface="JetBrains Mono"/>
              </a:defRPr>
            </a:pPr>
            <a:r>
              <a:t>#24211D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2331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8FAFC"/>
                </a:solidFill>
                <a:latin typeface="Inter"/>
              </a:defRPr>
            </a:pPr>
            <a:r>
              <a:t>表面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286000"/>
            <a:ext cx="1645920" cy="1097280"/>
          </a:xfrm>
          <a:prstGeom prst="roundRect">
            <a:avLst/>
          </a:prstGeom>
          <a:solidFill>
            <a:srgbClr val="D4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2926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8FAFC"/>
                </a:solidFill>
                <a:latin typeface="JetBrains Mono"/>
              </a:defRPr>
            </a:pPr>
            <a:r>
              <a:t>#D4B86A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331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8FAFC"/>
                </a:solidFill>
                <a:latin typeface="Inter"/>
              </a:defRPr>
            </a:pPr>
            <a:r>
              <a:t>金色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3749040"/>
            <a:ext cx="1645920" cy="1097280"/>
          </a:xfrm>
          <a:prstGeom prst="roundRect">
            <a:avLst/>
          </a:prstGeom>
          <a:solidFill>
            <a:srgbClr val="A88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389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D0A08"/>
                </a:solidFill>
                <a:latin typeface="JetBrains Mono"/>
              </a:defRPr>
            </a:pPr>
            <a:r>
              <a:t>#A88730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794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D0A08"/>
                </a:solidFill>
                <a:latin typeface="Inter"/>
              </a:defRPr>
            </a:pPr>
            <a:r>
              <a:t>暗金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3749040"/>
            <a:ext cx="1645920" cy="10972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4389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D0A08"/>
                </a:solidFill>
                <a:latin typeface="JetBrains Mono"/>
              </a:defRPr>
            </a:pPr>
            <a:r>
              <a:t>#22C55E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3794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D0A08"/>
                </a:solidFill>
                <a:latin typeface="Inter"/>
              </a:defRPr>
            </a:pPr>
            <a:r>
              <a:t>成功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0" y="3749040"/>
            <a:ext cx="1645920" cy="10972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4389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D0A08"/>
                </a:solidFill>
                <a:latin typeface="JetBrains Mono"/>
              </a:defRPr>
            </a:pPr>
            <a:r>
              <a:t>#F59E0B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3794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D0A08"/>
                </a:solidFill>
                <a:latin typeface="Inter"/>
              </a:defRPr>
            </a:pPr>
            <a:r>
              <a:t>警告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6640" y="3749040"/>
            <a:ext cx="1645920" cy="10972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0" y="4389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8FAFC"/>
                </a:solidFill>
                <a:latin typeface="JetBrains Mono"/>
              </a:defRPr>
            </a:pPr>
            <a:r>
              <a:t>#EF4444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0" y="3794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8FAFC"/>
                </a:solidFill>
                <a:latin typeface="Inter"/>
              </a:defRPr>
            </a:pPr>
            <a:r>
              <a:t>危险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09760" y="3749040"/>
            <a:ext cx="1645920" cy="1097280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0" y="4389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8FAFC"/>
                </a:solidFill>
                <a:latin typeface="JetBrains Mono"/>
              </a:defRPr>
            </a:pPr>
            <a:r>
              <a:t>#C084FC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3794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8FAFC"/>
                </a:solidFill>
                <a:latin typeface="Inter"/>
              </a:defRPr>
            </a:pPr>
            <a:r>
              <a:t>子Agent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303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用户消息 · 金色边框  |  Agent消息 · 微光白边  |  工具消息 · 最淡边框  |  子Agent · 紫色标记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4B86A"/>
                </a:solidFill>
                <a:latin typeface="JetBrains Mono"/>
              </a:defRPr>
            </a:pPr>
            <a:r>
              <a:t>03  排版与字体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371600" cy="25400"/>
          </a:xfrm>
          <a:prstGeom prst="rect">
            <a:avLst/>
          </a:prstGeom>
          <a:solidFill>
            <a:srgbClr val="D4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8FAFC"/>
                </a:solidFill>
                <a:latin typeface="Inter"/>
              </a:defRPr>
            </a:pPr>
            <a:r>
              <a:t>Inter + JetBrains Mono 双字体系统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清晰的技术调性，契合开发者工具的产品气质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8FAFC"/>
                </a:solidFill>
                <a:latin typeface="Inter"/>
              </a:defRPr>
            </a:pPr>
            <a:r>
              <a:t>字体家族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743200"/>
            <a:ext cx="4572000" cy="1645920"/>
          </a:xfrm>
          <a:prstGeom prst="roundRect">
            <a:avLst/>
          </a:prstGeom>
          <a:solidFill>
            <a:srgbClr val="24211D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834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8FAFC"/>
                </a:solidFill>
                <a:latin typeface="Inter"/>
              </a:defRPr>
            </a:pPr>
            <a:r>
              <a:t>Inter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正文字体 · 300-700 字重 · 清晰易读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7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8FAFC"/>
                </a:solidFill>
                <a:latin typeface="JetBrains Mono"/>
              </a:defRPr>
            </a:pPr>
            <a:r>
              <a:t>JetBrains Mono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23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等宽字体 · 代码、数据、终端 · 连字支持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8FAFC"/>
                </a:solidFill>
                <a:latin typeface="Inter"/>
              </a:defRPr>
            </a:pPr>
            <a:r>
              <a:t>字号层级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432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--text-xs:  0.75rem  (标签/辅助信息)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--text-sm:  0.875rem (正文小)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--text-base: 1rem    (正文)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--h3:  clamp(1.1rem, 2vw, 1.4rem)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--h2:  clamp(1.4rem, 3vw, 1.8rem)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--h1:  clamp(1.8rem, 4vw, 2.8rem)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8FAFC"/>
                </a:solidFill>
                <a:latin typeface="Inter"/>
              </a:defRPr>
            </a:pPr>
            <a:r>
              <a:t>行高规范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1206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正文行高 1.6–1.75 · 代码行高 1.5 · 标题字重 600–700 · 正文 400 · 标签 500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代码内联背景 rgba(168,85,247,0.12) · 代码块背景 rgba(0,0,0,0.3)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移动端最小 16px 正文（防 iOS 自动缩放）· 动态缩放基于 clamp()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4B86A"/>
                </a:solidFill>
                <a:latin typeface="JetBrains Mono"/>
              </a:defRPr>
            </a:pPr>
            <a:r>
              <a:t>04  间距与布局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371600" cy="25400"/>
          </a:xfrm>
          <a:prstGeom prst="rect">
            <a:avLst/>
          </a:prstGeom>
          <a:solidFill>
            <a:srgbClr val="D4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8FAFC"/>
                </a:solidFill>
                <a:latin typeface="Inter"/>
              </a:defRPr>
            </a:pPr>
            <a:r>
              <a:t>4px 增量与 8px 网格系统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统一的间距、圆角与阴影层级，保证视觉一致性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103120"/>
            <a:ext cx="1463040" cy="731520"/>
          </a:xfrm>
          <a:prstGeom prst="roundRect">
            <a:avLst/>
          </a:prstGeom>
          <a:solidFill>
            <a:srgbClr val="24211D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48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JetBrains Mono"/>
              </a:defRPr>
            </a:pPr>
            <a:r>
              <a:t>--space-1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8FAFC"/>
                </a:solidFill>
                <a:latin typeface="Inter"/>
              </a:defRPr>
            </a:pPr>
            <a:r>
              <a:t>4px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103120"/>
            <a:ext cx="1463040" cy="731520"/>
          </a:xfrm>
          <a:prstGeom prst="roundRect">
            <a:avLst/>
          </a:prstGeom>
          <a:solidFill>
            <a:srgbClr val="24211D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148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JetBrains Mono"/>
              </a:defRPr>
            </a:pPr>
            <a:r>
              <a:t>--space-2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377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8FAFC"/>
                </a:solidFill>
                <a:latin typeface="Inter"/>
              </a:defRPr>
            </a:pPr>
            <a:r>
              <a:t>8px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103120"/>
            <a:ext cx="1463040" cy="731520"/>
          </a:xfrm>
          <a:prstGeom prst="roundRect">
            <a:avLst/>
          </a:prstGeom>
          <a:solidFill>
            <a:srgbClr val="24211D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148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JetBrains Mono"/>
              </a:defRPr>
            </a:pPr>
            <a:r>
              <a:t>--space-4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377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8FAFC"/>
                </a:solidFill>
                <a:latin typeface="Inter"/>
              </a:defRPr>
            </a:pPr>
            <a:r>
              <a:t>16px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103120"/>
            <a:ext cx="1463040" cy="731520"/>
          </a:xfrm>
          <a:prstGeom prst="roundRect">
            <a:avLst/>
          </a:prstGeom>
          <a:solidFill>
            <a:srgbClr val="24211D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48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JetBrains Mono"/>
              </a:defRPr>
            </a:pPr>
            <a:r>
              <a:t>--space-6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77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8FAFC"/>
                </a:solidFill>
                <a:latin typeface="Inter"/>
              </a:defRPr>
            </a:pPr>
            <a:r>
              <a:t>24px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103120"/>
            <a:ext cx="1463040" cy="731520"/>
          </a:xfrm>
          <a:prstGeom prst="roundRect">
            <a:avLst/>
          </a:prstGeom>
          <a:solidFill>
            <a:srgbClr val="24211D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148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JetBrains Mono"/>
              </a:defRPr>
            </a:pPr>
            <a:r>
              <a:t>--space-8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377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8FAFC"/>
                </a:solidFill>
                <a:latin typeface="Inter"/>
              </a:defRPr>
            </a:pPr>
            <a:r>
              <a:t>32px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2103120"/>
            <a:ext cx="1463040" cy="731520"/>
          </a:xfrm>
          <a:prstGeom prst="roundRect">
            <a:avLst/>
          </a:prstGeom>
          <a:solidFill>
            <a:srgbClr val="24211D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2148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JetBrains Mono"/>
              </a:defRPr>
            </a:pPr>
            <a:r>
              <a:t>--space-12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377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8FAFC"/>
                </a:solidFill>
                <a:latin typeface="Inter"/>
              </a:defRPr>
            </a:pPr>
            <a:r>
              <a:t>48px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8FAFC"/>
                </a:solidFill>
                <a:latin typeface="Inter"/>
              </a:defRPr>
            </a:pPr>
            <a:r>
              <a:t>圆角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3566160"/>
            <a:ext cx="1097280" cy="731520"/>
          </a:xfrm>
          <a:prstGeom prst="roundRect">
            <a:avLst>
              <a:gd name="adj" fmla="val 4000"/>
            </a:avLst>
          </a:prstGeom>
          <a:solidFill>
            <a:srgbClr val="24211D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3611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AFC"/>
                </a:solidFill>
                <a:latin typeface="Inter"/>
              </a:defRPr>
            </a:pPr>
            <a:r>
              <a:t>4px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886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JetBrains Mono"/>
              </a:defRPr>
            </a:pPr>
            <a:r>
              <a:t>--radius-sm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68880" y="3566160"/>
            <a:ext cx="1097280" cy="731520"/>
          </a:xfrm>
          <a:prstGeom prst="roundRect">
            <a:avLst>
              <a:gd name="adj" fmla="val 8000"/>
            </a:avLst>
          </a:prstGeom>
          <a:solidFill>
            <a:srgbClr val="24211D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0" y="3611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AFC"/>
                </a:solidFill>
                <a:latin typeface="Inter"/>
              </a:defRPr>
            </a:pPr>
            <a:r>
              <a:t>8px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3886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JetBrains Mono"/>
              </a:defRPr>
            </a:pPr>
            <a:r>
              <a:t>--radius-md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3566160"/>
            <a:ext cx="1097280" cy="731520"/>
          </a:xfrm>
          <a:prstGeom prst="roundRect">
            <a:avLst>
              <a:gd name="adj" fmla="val 12000"/>
            </a:avLst>
          </a:prstGeom>
          <a:solidFill>
            <a:srgbClr val="24211D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0" y="3611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AFC"/>
                </a:solidFill>
                <a:latin typeface="Inter"/>
              </a:defRPr>
            </a:pPr>
            <a:r>
              <a:t>12px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3886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JetBrains Mono"/>
              </a:defRPr>
            </a:pPr>
            <a:r>
              <a:t>--radius-lg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12080" y="3566160"/>
            <a:ext cx="1097280" cy="731520"/>
          </a:xfrm>
          <a:prstGeom prst="roundRect">
            <a:avLst>
              <a:gd name="adj" fmla="val 16000"/>
            </a:avLst>
          </a:prstGeom>
          <a:solidFill>
            <a:srgbClr val="24211D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0" y="3611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8FAFC"/>
                </a:solidFill>
                <a:latin typeface="Inter"/>
              </a:defRPr>
            </a:pPr>
            <a:r>
              <a:t>16px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3886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JetBrains Mono"/>
              </a:defRPr>
            </a:pPr>
            <a:r>
              <a:t>--radius-xl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8FAFC"/>
                </a:solidFill>
                <a:latin typeface="Inter"/>
              </a:defRPr>
            </a:pPr>
            <a:r>
              <a:t>阴影层级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49377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--shadow-sm: 轻微浮动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--shadow-md: 卡片抬高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--shadow-glow-gold: CTA 金色光晕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8FAFC"/>
                </a:solidFill>
                <a:latin typeface="Inter"/>
              </a:defRPr>
            </a:pPr>
            <a:r>
              <a:t>关键布局尺寸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566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▸ Header 高 48px · 毛玻璃 backdrop-filter: blur(12px)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▸ 侧边栏宽 260px · 右侧面板 320px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▸ 消息最大宽 820px · 居中布局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▸ 输入栏最小高 40px · 自适应 max-height: 150px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▸ 响应式断点：375 / 768 / 1024 / 1440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4B86A"/>
                </a:solidFill>
                <a:latin typeface="JetBrains Mono"/>
              </a:defRPr>
            </a:pPr>
            <a:r>
              <a:t>05  组件设计规范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371600" cy="25400"/>
          </a:xfrm>
          <a:prstGeom prst="rect">
            <a:avLst/>
          </a:prstGeom>
          <a:solidFill>
            <a:srgbClr val="D4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8FAFC"/>
                </a:solidFill>
                <a:latin typeface="Inter"/>
              </a:defRPr>
            </a:pPr>
            <a:r>
              <a:t>组件状态与变体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每个组件定义明确的状态，确保交互反馈一致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2103120"/>
          <a:ext cx="6400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25880"/>
                <a:gridCol w="1325880"/>
                <a:gridCol w="1325880"/>
                <a:gridCol w="13258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B86A"/>
                          </a:solidFill>
                          <a:latin typeface="Inter"/>
                        </a:defRPr>
                      </a:pPr>
                      <a:r>
                        <a:t>属性</a:t>
                      </a:r>
                    </a:p>
                  </a:txBody>
                  <a:tcPr anchor="ctr">
                    <a:solidFill>
                      <a:srgbClr val="2421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B86A"/>
                          </a:solidFill>
                          <a:latin typeface="Inter"/>
                        </a:defRPr>
                      </a:pPr>
                      <a:r>
                        <a:t>默认</a:t>
                      </a:r>
                    </a:p>
                  </a:txBody>
                  <a:tcPr anchor="ctr">
                    <a:solidFill>
                      <a:srgbClr val="2421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B86A"/>
                          </a:solidFill>
                          <a:latin typeface="Inter"/>
                        </a:defRPr>
                      </a:pPr>
                      <a:r>
                        <a:t>悬停</a:t>
                      </a:r>
                    </a:p>
                  </a:txBody>
                  <a:tcPr anchor="ctr">
                    <a:solidFill>
                      <a:srgbClr val="2421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B86A"/>
                          </a:solidFill>
                          <a:latin typeface="Inter"/>
                        </a:defRPr>
                      </a:pPr>
                      <a:r>
                        <a:t>激活</a:t>
                      </a:r>
                    </a:p>
                  </a:txBody>
                  <a:tcPr anchor="ctr">
                    <a:solidFill>
                      <a:srgbClr val="2421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B86A"/>
                          </a:solidFill>
                          <a:latin typeface="Inter"/>
                        </a:defRPr>
                      </a:pPr>
                      <a:r>
                        <a:t>禁用</a:t>
                      </a:r>
                    </a:p>
                  </a:txBody>
                  <a:tcPr anchor="ctr">
                    <a:solidFill>
                      <a:srgbClr val="2421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背景</a:t>
                      </a:r>
                    </a:p>
                  </a:txBody>
                  <a:tcPr anchor="ctr">
                    <a:solidFill>
                      <a:srgbClr val="2421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Inter"/>
                        </a:defRPr>
                      </a:pPr>
                      <a:r>
                        <a:t>--accent</a:t>
                      </a:r>
                    </a:p>
                  </a:txBody>
                  <a:tcPr anchor="ctr">
                    <a:solidFill>
                      <a:srgbClr val="2421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Inter"/>
                        </a:defRPr>
                      </a:pPr>
                      <a:r>
                        <a:t>--accent-hover</a:t>
                      </a:r>
                    </a:p>
                  </a:txBody>
                  <a:tcPr anchor="ctr">
                    <a:solidFill>
                      <a:srgbClr val="2421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Inter"/>
                        </a:defRPr>
                      </a:pPr>
                      <a:r>
                        <a:t>--accent</a:t>
                      </a:r>
                    </a:p>
                  </a:txBody>
                  <a:tcPr anchor="ctr">
                    <a:solidFill>
                      <a:srgbClr val="2421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Inter"/>
                        </a:defRPr>
                      </a:pPr>
                      <a:r>
                        <a:t>--bg-surface</a:t>
                      </a:r>
                    </a:p>
                  </a:txBody>
                  <a:tcPr anchor="ctr">
                    <a:solidFill>
                      <a:srgbClr val="2421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文字</a:t>
                      </a:r>
                    </a:p>
                  </a:txBody>
                  <a:tcPr anchor="ctr">
                    <a:solidFill>
                      <a:srgbClr val="1A17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Inter"/>
                        </a:defRPr>
                      </a:pPr>
                      <a:r>
                        <a:t>white</a:t>
                      </a:r>
                    </a:p>
                  </a:txBody>
                  <a:tcPr anchor="ctr">
                    <a:solidFill>
                      <a:srgbClr val="1A17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Inter"/>
                        </a:defRPr>
                      </a:pPr>
                      <a:r>
                        <a:t>white</a:t>
                      </a:r>
                    </a:p>
                  </a:txBody>
                  <a:tcPr anchor="ctr">
                    <a:solidFill>
                      <a:srgbClr val="1A17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Inter"/>
                        </a:defRPr>
                      </a:pPr>
                      <a:r>
                        <a:t>white</a:t>
                      </a:r>
                    </a:p>
                  </a:txBody>
                  <a:tcPr anchor="ctr">
                    <a:solidFill>
                      <a:srgbClr val="1A17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Inter"/>
                        </a:defRPr>
                      </a:pPr>
                      <a:r>
                        <a:t>--text-dim</a:t>
                      </a:r>
                    </a:p>
                  </a:txBody>
                  <a:tcPr anchor="ctr">
                    <a:solidFill>
                      <a:srgbClr val="1A17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阴影</a:t>
                      </a:r>
                    </a:p>
                  </a:txBody>
                  <a:tcPr anchor="ctr">
                    <a:solidFill>
                      <a:srgbClr val="2421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Inter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2421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Inter"/>
                        </a:defRPr>
                      </a:pPr>
                      <a:r>
                        <a:t>--glow-gold</a:t>
                      </a:r>
                    </a:p>
                  </a:txBody>
                  <a:tcPr anchor="ctr">
                    <a:solidFill>
                      <a:srgbClr val="2421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Inter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24211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Inter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24211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变换</a:t>
                      </a:r>
                    </a:p>
                  </a:txBody>
                  <a:tcPr anchor="ctr">
                    <a:solidFill>
                      <a:srgbClr val="1A17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Inter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A17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Inter"/>
                        </a:defRPr>
                      </a:pPr>
                      <a:r>
                        <a:t>translateY(-1px)</a:t>
                      </a:r>
                    </a:p>
                  </a:txBody>
                  <a:tcPr anchor="ctr">
                    <a:solidFill>
                      <a:srgbClr val="1A17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Inter"/>
                        </a:defRPr>
                      </a:pPr>
                      <a:r>
                        <a:t>scale(0.96)</a:t>
                      </a:r>
                    </a:p>
                  </a:txBody>
                  <a:tcPr anchor="ctr">
                    <a:solidFill>
                      <a:srgbClr val="1A17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BD5E1"/>
                          </a:solidFill>
                          <a:latin typeface="Inter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A171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4672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8FAFC"/>
                </a:solidFill>
                <a:latin typeface="Inter"/>
              </a:defRPr>
            </a:pPr>
            <a:r>
              <a:t>消息卡片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560320"/>
            <a:ext cx="3474720" cy="1097280"/>
          </a:xfrm>
          <a:prstGeom prst="roundRect">
            <a:avLst/>
          </a:prstGeom>
          <a:solidFill>
            <a:srgbClr val="2A2520"/>
          </a:solidFill>
          <a:ln w="12700">
            <a:solidFill>
              <a:srgbClr val="C4A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606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4B86A"/>
                </a:solidFill>
                <a:latin typeface="Inter"/>
              </a:defRPr>
            </a:pPr>
            <a:r>
              <a:t>You  ·  用户消息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880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Inter"/>
              </a:defRPr>
            </a:pPr>
            <a:r>
              <a:t>右对齐 · 金色边框 rgba(212,168,67,0.18)</a:t>
            </a:r>
            <a:br/>
            <a:r>
              <a:t>暖金色点缀背景 rgba(212,168,67,0.06)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840480"/>
            <a:ext cx="3474720" cy="1097280"/>
          </a:xfrm>
          <a:prstGeom prst="roundRect">
            <a:avLst/>
          </a:prstGeom>
          <a:solidFill>
            <a:srgbClr val="1A1714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886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4B86A"/>
                </a:solidFill>
                <a:latin typeface="Inter"/>
              </a:defRPr>
            </a:pPr>
            <a:r>
              <a:t>Seek Agent  ·  AI 回复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Inter"/>
              </a:defRPr>
            </a:pPr>
            <a:r>
              <a:t>左对齐 · 微光背景 rgba(255,255,255,0.03)</a:t>
            </a:r>
            <a:br/>
            <a:r>
              <a:t>白色边框 rgba(255,255,255,0.06)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8FAFC"/>
                </a:solidFill>
                <a:latin typeface="Inter"/>
              </a:defRPr>
            </a:pPr>
            <a:r>
              <a:t>过渡动画规范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212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默认过渡 150–200ms  cubic-bezier(0.16, 1, 0.3, 1)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消息入场 250ms fade-in + translateY(6px)  ·  光标闪烁 1s step-end 无限  ·  状态脉冲 1.5s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尊重 prefers-reduced-motion  ·  所有可点击元素 cursor: pointer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4B86A"/>
                </a:solidFill>
                <a:latin typeface="JetBrains Mono"/>
              </a:defRPr>
            </a:pPr>
            <a:r>
              <a:t>06  深色模式实现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371600" cy="25400"/>
          </a:xfrm>
          <a:prstGeom prst="rect">
            <a:avLst/>
          </a:prstGeom>
          <a:solidFill>
            <a:srgbClr val="D4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8FAFC"/>
                </a:solidFill>
                <a:latin typeface="Inter"/>
              </a:defRPr>
            </a:pPr>
            <a:r>
              <a:t>Dark Mode (OLED) 独家深色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纯深色模式，无亮色回退。针对 OLED 优化，低蓝光护眼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103120"/>
            <a:ext cx="731520" cy="731520"/>
          </a:xfrm>
          <a:prstGeom prst="roundRect">
            <a:avLst/>
          </a:prstGeom>
          <a:solidFill>
            <a:srgbClr val="0D0A08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2148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D0A08"/>
                </a:solidFill>
                <a:latin typeface="JetBrains Mono"/>
              </a:defRPr>
            </a:pPr>
            <a:r>
              <a:t>--bg-deepest    #0D0A08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68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Inter"/>
              </a:defRPr>
            </a:pPr>
            <a:r>
              <a:t>侧边栏 · 深层背景 · 接近纯黑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108960"/>
            <a:ext cx="731520" cy="731520"/>
          </a:xfrm>
          <a:prstGeom prst="roundRect">
            <a:avLst/>
          </a:prstGeom>
          <a:solidFill>
            <a:srgbClr val="151210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3154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51210"/>
                </a:solidFill>
                <a:latin typeface="JetBrains Mono"/>
              </a:defRPr>
            </a:pPr>
            <a:r>
              <a:t>--bg-base       #151210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474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Inter"/>
              </a:defRPr>
            </a:pPr>
            <a:r>
              <a:t>主体背景 · 主工作区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114800"/>
            <a:ext cx="731520" cy="731520"/>
          </a:xfrm>
          <a:prstGeom prst="roundRect">
            <a:avLst/>
          </a:prstGeom>
          <a:solidFill>
            <a:srgbClr val="1A1714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4160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714"/>
                </a:solidFill>
                <a:latin typeface="JetBrains Mono"/>
              </a:defRPr>
            </a:pPr>
            <a:r>
              <a:t>--bg-elevated   #1A1714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480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Inter"/>
              </a:defRPr>
            </a:pPr>
            <a:r>
              <a:t>抬高层 · 消息区背景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5120640"/>
            <a:ext cx="731520" cy="731520"/>
          </a:xfrm>
          <a:prstGeom prst="roundRect">
            <a:avLst/>
          </a:prstGeom>
          <a:solidFill>
            <a:srgbClr val="24211D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5166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4211D"/>
                </a:solidFill>
                <a:latin typeface="JetBrains Mono"/>
              </a:defRPr>
            </a:pPr>
            <a:r>
              <a:t>--bg-surface    #24211D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486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Inter"/>
              </a:defRPr>
            </a:pPr>
            <a:r>
              <a:t>卡片表面 · 面板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8FAFC"/>
                </a:solidFill>
                <a:latin typeface="Inter"/>
              </a:defRPr>
            </a:pPr>
            <a:r>
              <a:t>对比度验证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560320"/>
            <a:ext cx="4754880" cy="457200"/>
          </a:xfrm>
          <a:prstGeom prst="roundRect">
            <a:avLst/>
          </a:prstGeom>
          <a:solidFill>
            <a:srgbClr val="24211D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606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Inter"/>
              </a:defRPr>
            </a:pPr>
            <a:r>
              <a:t>主文字 ← 背景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C55E"/>
                </a:solidFill>
                <a:latin typeface="JetBrains Mono"/>
              </a:defRPr>
            </a:pPr>
            <a:r>
              <a:t>✓ 15.7:1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154680"/>
            <a:ext cx="4754880" cy="457200"/>
          </a:xfrm>
          <a:prstGeom prst="roundRect">
            <a:avLst/>
          </a:prstGeom>
          <a:solidFill>
            <a:srgbClr val="24211D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Inter"/>
              </a:defRPr>
            </a:pPr>
            <a:r>
              <a:t>次文字 ← 背景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C55E"/>
                </a:solidFill>
                <a:latin typeface="JetBrains Mono"/>
              </a:defRPr>
            </a:pPr>
            <a:r>
              <a:t>✓ 10.4:1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749040"/>
            <a:ext cx="4754880" cy="457200"/>
          </a:xfrm>
          <a:prstGeom prst="roundRect">
            <a:avLst/>
          </a:prstGeom>
          <a:solidFill>
            <a:srgbClr val="24211D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794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BD5E1"/>
                </a:solidFill>
                <a:latin typeface="Inter"/>
              </a:defRPr>
            </a:pPr>
            <a:r>
              <a:t>弱文字 ← 背景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794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C55E"/>
                </a:solidFill>
                <a:latin typeface="JetBrains Mono"/>
              </a:defRPr>
            </a:pPr>
            <a:r>
              <a:t>✓ 6.8:1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8FAFC"/>
                </a:solidFill>
                <a:latin typeface="Inter"/>
              </a:defRPr>
            </a:pPr>
            <a:r>
              <a:t>毛玻璃效果层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754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Header:  backdrop-filter: blur(12px)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背景透光:  rgba(21,18,16,0.88)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输入栏:  rgba(13,10,8,0.5) + blur(8px)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底部导航:  rgba(13,10,8,0.85) + blur(12px)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4B86A"/>
                </a:solidFill>
                <a:latin typeface="JetBrains Mono"/>
              </a:defRPr>
            </a:pPr>
            <a:r>
              <a:t>07  UI 风格展示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371600" cy="25400"/>
          </a:xfrm>
          <a:prstGeom prst="rect">
            <a:avLst/>
          </a:prstGeom>
          <a:solidFill>
            <a:srgbClr val="D4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8FAFC"/>
                </a:solidFill>
                <a:latin typeface="Inter"/>
              </a:defRPr>
            </a:pPr>
            <a:r>
              <a:t>Dark Developer Tool · 风格定调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电影级深色 · 微玻璃质感 · AI 原生体验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B86A"/>
                </a:solidFill>
                <a:latin typeface="Inter"/>
              </a:defRPr>
            </a:pPr>
            <a:r>
              <a:t>✦ 设计风格关键词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560320"/>
            <a:ext cx="1463040" cy="411480"/>
          </a:xfrm>
          <a:prstGeom prst="roundRect">
            <a:avLst/>
          </a:prstGeom>
          <a:solidFill>
            <a:srgbClr val="24211D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06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Inter"/>
              </a:defRPr>
            </a:pPr>
            <a:r>
              <a:t>Dark Mode OLED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560320"/>
            <a:ext cx="1463040" cy="411480"/>
          </a:xfrm>
          <a:prstGeom prst="roundRect">
            <a:avLst/>
          </a:prstGeom>
          <a:solidFill>
            <a:srgbClr val="24211D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2606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Inter"/>
              </a:defRPr>
            </a:pPr>
            <a:r>
              <a:t>电影级深色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560320"/>
            <a:ext cx="1463040" cy="411480"/>
          </a:xfrm>
          <a:prstGeom prst="roundRect">
            <a:avLst/>
          </a:prstGeom>
          <a:solidFill>
            <a:srgbClr val="24211D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606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Inter"/>
              </a:defRPr>
            </a:pPr>
            <a:r>
              <a:t>微玻璃质感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560320"/>
            <a:ext cx="1463040" cy="411480"/>
          </a:xfrm>
          <a:prstGeom prst="roundRect">
            <a:avLst/>
          </a:prstGeom>
          <a:solidFill>
            <a:srgbClr val="24211D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2606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Inter"/>
              </a:defRPr>
            </a:pPr>
            <a:r>
              <a:t>AI 原生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560320"/>
            <a:ext cx="1463040" cy="411480"/>
          </a:xfrm>
          <a:prstGeom prst="roundRect">
            <a:avLst/>
          </a:prstGeom>
          <a:solidFill>
            <a:srgbClr val="24211D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80" y="2606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Inter"/>
              </a:defRPr>
            </a:pPr>
            <a:r>
              <a:t>金色点缀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108960"/>
            <a:ext cx="1463040" cy="411480"/>
          </a:xfrm>
          <a:prstGeom prst="roundRect">
            <a:avLst/>
          </a:prstGeom>
          <a:solidFill>
            <a:srgbClr val="24211D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154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Inter"/>
              </a:defRPr>
            </a:pPr>
            <a:r>
              <a:t>暖调深棕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3108960"/>
            <a:ext cx="1463040" cy="411480"/>
          </a:xfrm>
          <a:prstGeom prst="roundRect">
            <a:avLst/>
          </a:prstGeom>
          <a:solidFill>
            <a:srgbClr val="24211D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3154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Inter"/>
              </a:defRPr>
            </a:pPr>
            <a:r>
              <a:t>高对比度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108960"/>
            <a:ext cx="1463040" cy="411480"/>
          </a:xfrm>
          <a:prstGeom prst="roundRect">
            <a:avLst/>
          </a:prstGeom>
          <a:solidFill>
            <a:srgbClr val="24211D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3154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Inter"/>
              </a:defRPr>
            </a:pPr>
            <a:r>
              <a:t>代码友好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3108960"/>
            <a:ext cx="1463040" cy="411480"/>
          </a:xfrm>
          <a:prstGeom prst="roundRect">
            <a:avLst/>
          </a:prstGeom>
          <a:solidFill>
            <a:srgbClr val="24211D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3154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Inter"/>
              </a:defRPr>
            </a:pPr>
            <a:r>
              <a:t>终端美学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3108960"/>
            <a:ext cx="1463040" cy="411480"/>
          </a:xfrm>
          <a:prstGeom prst="roundRect">
            <a:avLst/>
          </a:prstGeom>
          <a:solidFill>
            <a:srgbClr val="24211D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80" y="3154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5E1"/>
                </a:solidFill>
                <a:latin typeface="Inter"/>
              </a:defRPr>
            </a:pPr>
            <a:r>
              <a:t>低蓝光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B86A"/>
                </a:solidFill>
                <a:latin typeface="Inter"/>
              </a:defRPr>
            </a:pPr>
            <a:r>
              <a:t>✦ 反模式清单（避免）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20624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✗ 不使用 emoji 作为图标（使用 SVG）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✗ 纯色深色主题，无亮色默认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✗ 避免低对比度（&lt;4.5:1）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✗ 所有可点击元素有 cursor: pointer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✗ 不依赖单一颜色传达信息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✗ 缓慢/卡顿性能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B86A"/>
                </a:solidFill>
                <a:latin typeface="Inter"/>
              </a:defRPr>
            </a:pPr>
            <a:r>
              <a:t>✦ 交互反馈模式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▸ 按钮悬停：上移 1px + 金色光晕 + 亮色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▸ 卡片悬停：上移 4px + 边界高亮 + 顶部渐变色条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▸ 输入聚焦：金色边框 + 外发光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▸ 消息入场：淡入 + 上移（250ms）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▸ 禁用态：灰色 + 无交互反馈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▸ 状态指示点：1.5s 脉冲动画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4B86A"/>
                </a:solidFill>
                <a:latin typeface="JetBrains Mono"/>
              </a:defRPr>
            </a:pPr>
            <a:r>
              <a:t>08  可访问性与预交付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371600" cy="25400"/>
          </a:xfrm>
          <a:prstGeom prst="rect">
            <a:avLst/>
          </a:prstGeom>
          <a:solidFill>
            <a:srgbClr val="D4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8FAFC"/>
                </a:solidFill>
                <a:latin typeface="Inter"/>
              </a:defRPr>
            </a:pPr>
            <a:r>
              <a:t>CRITICAL · 可访问性优先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遵循 UI/UX Pro Max 优先级规则，可访问性为最高优先级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8FAFC"/>
                </a:solidFill>
                <a:latin typeface="Inter"/>
              </a:defRPr>
            </a:pPr>
            <a:r>
              <a:t>可访问性检查清单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☐ 正常文本最小对比度 4.5:1，大文本 3:1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☐ 交互元素必须有可见焦点环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☐ 图标按钮必须有 aria-label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☐ 不仅靠颜色传达信息（加图标/文字）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☐ 支持 prefers-reduced-motion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☐ 触摸目标最小 44x44pt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☐ 触摸目标间至少 8px 间距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☐ 异步操作禁用按钮 + 加载状态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☐ 可视化按压反馈（涟漪/高亮）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8FAFC"/>
                </a:solidFill>
                <a:latin typeface="Inter"/>
              </a:defRPr>
            </a:pPr>
            <a:r>
              <a:t>预交付检查清单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✓ 无 emoji 用作图标（使用 SVG）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✓ 语义色值统一使用 Token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✓ 所有可触摸元素有按压反馈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✓ 正文字体对比度 ≥4.5:1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✓ 深色模式独立验证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✓ 已在小屏、大屏验证响应式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✓ 支持 prefers-reduced-motion</a:t>
            </a:r>
          </a:p>
          <a:p>
            <a:pPr>
              <a:lnSpc>
                <a:spcPts val="1900"/>
              </a:lnSpc>
              <a:spcAft>
                <a:spcPts val="600"/>
              </a:spcAft>
              <a:defRPr sz="1200">
                <a:solidFill>
                  <a:srgbClr val="CBD5E1"/>
                </a:solidFill>
                <a:latin typeface="Inter"/>
              </a:defRPr>
            </a:pPr>
            <a:r>
              <a:t>✓ 表单字段有 label、提示和错误消息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⏱  动画规范: 时长 150-300ms  ·  cubic-bezier 缓出  ·  尊重运动减少偏好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4B86A"/>
                </a:solidFill>
                <a:latin typeface="JetBrains Mono"/>
              </a:defRPr>
            </a:pPr>
            <a: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371600" cy="25400"/>
          </a:xfrm>
          <a:prstGeom prst="rect">
            <a:avLst/>
          </a:prstGeom>
          <a:solidFill>
            <a:srgbClr val="D4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8FAFC"/>
                </a:solidFill>
                <a:latin typeface="Inter"/>
              </a:defRPr>
            </a:pPr>
            <a:r>
              <a:t>设计系统总结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2194560" cy="1097280"/>
          </a:xfrm>
          <a:prstGeom prst="roundRect">
            <a:avLst/>
          </a:prstGeom>
          <a:solidFill>
            <a:srgbClr val="24211D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D4B86A"/>
                </a:solidFill>
                <a:latin typeface="JetBrains Mono"/>
              </a:defRPr>
            </a:pPr>
            <a:r>
              <a:t>50+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设计 Token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103120"/>
            <a:ext cx="2194560" cy="1097280"/>
          </a:xfrm>
          <a:prstGeom prst="roundRect">
            <a:avLst/>
          </a:prstGeom>
          <a:solidFill>
            <a:srgbClr val="24211D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D4B86A"/>
                </a:solidFill>
                <a:latin typeface="JetBrains Mono"/>
              </a:defRPr>
            </a:pPr>
            <a: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语义色类别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2194560" cy="1097280"/>
          </a:xfrm>
          <a:prstGeom prst="roundRect">
            <a:avLst/>
          </a:prstGeom>
          <a:solidFill>
            <a:srgbClr val="24211D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D4B86A"/>
                </a:solidFill>
                <a:latin typeface="JetBrains Mono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字体家族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2103120"/>
            <a:ext cx="2194560" cy="1097280"/>
          </a:xfrm>
          <a:prstGeom prst="roundRect">
            <a:avLst/>
          </a:prstGeom>
          <a:solidFill>
            <a:srgbClr val="24211D"/>
          </a:solidFill>
          <a:ln>
            <a:solidFill>
              <a:srgbClr val="353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D4B86A"/>
                </a:solidFill>
                <a:latin typeface="JetBrains Mono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圆角层级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B86A"/>
                </a:solidFill>
                <a:latin typeface="Inter"/>
              </a:defRPr>
            </a:pPr>
            <a:r>
              <a:t>设计原则回顾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40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✓ 暖调深色 + 金色点缀 · 开发者工具风格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✓ 三层 Token 架构 · 无硬编码 hex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✓ 可访问性为最高优先级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✓ 极致的深色体验 · OLED 优化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✓ 一致的组件状态与过渡系统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B86A"/>
                </a:solidFill>
                <a:latin typeface="Inter"/>
              </a:defRPr>
            </a:pPr>
            <a:r>
              <a:t>下一步建议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40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→ 将设计 Token 提取为独立 CSS 文件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→ 建立组件库文档（Storybook）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→ 开发亮色模式（可选）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→ 自动化 Token 合规验证</a:t>
            </a:r>
          </a:p>
          <a:p>
            <a:pPr>
              <a:lnSpc>
                <a:spcPts val="2000"/>
              </a:lnSpc>
              <a:spcAft>
                <a:spcPts val="6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→ 持续收集用户反馈迭代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5943600"/>
            <a:ext cx="3017520" cy="25400"/>
          </a:xfrm>
          <a:prstGeom prst="rect">
            <a:avLst/>
          </a:prstGeom>
          <a:solidFill>
            <a:srgbClr val="D4B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JetBrains Mono"/>
              </a:defRPr>
            </a:pPr>
            <a:r>
              <a:t>✦  Seek-Agent Design System  v1.0  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